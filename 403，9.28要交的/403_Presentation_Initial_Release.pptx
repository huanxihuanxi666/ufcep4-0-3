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Hospital Patient Referral, Treatment and Administration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828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UFCEP4-0-3 Business Process Modelling and Enterprise Architecture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22128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Initial Release Presentation | 28 September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525780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BFC7D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9224" y="5312664"/>
            <a:ext cx="1086307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DENG JIN WANG | WU JIA WEI | LIN JIA QIANG | WU TONG YU | XIAO YU YING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Project Aim and Requirement Basis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Business process design for the hospital patient pathway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188720"/>
            <a:ext cx="566928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263238"/>
                </a:solidFill>
              </a:rPr>
              <a:t>Support the pathway from referral through appointment, treatment, follow-up and ongoing communication.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Improve coordination between clinical, administrative and financial teams.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Keep clinical decisions, administrative tasks and financial responsibilities separate.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Provide a basis for acceptance criteria and later testing.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463040"/>
            <a:ext cx="4389120" cy="2377440"/>
          </a:xfrm>
          <a:prstGeom prst="roundRect">
            <a:avLst>
              <a:gd name="adj" fmla="val 230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21424" y="1517904"/>
            <a:ext cx="4279392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Requirements basis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Functional requirements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Non-functional requirements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Business rules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Exceptions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Clarification questions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Team Ownership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First Owner leads; Second Owner supports handover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585216"/>
          </a:xfrm>
          <a:prstGeom prst="rect">
            <a:avLst/>
          </a:prstGeom>
          <a:solidFill>
            <a:srgbClr val="1F4E79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316736"/>
            <a:ext cx="10515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DENG JIN WANG  →  Referral &amp; Consultant Review  |  Second: WU JIA WEI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65376"/>
            <a:ext cx="10698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901952"/>
            <a:ext cx="10515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WU JIA WEI  →  Appointment &amp; Patient Communication  |  Second: LIN JIA QIANG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50592"/>
            <a:ext cx="10698480" cy="585216"/>
          </a:xfrm>
          <a:prstGeom prst="rect">
            <a:avLst/>
          </a:prstGeom>
          <a:solidFill>
            <a:srgbClr val="F3F6FA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487168"/>
            <a:ext cx="10515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LIN JIA QIANG  →  Treatment &amp; Chemotherapy  |  Second: WU TONG YU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35808"/>
            <a:ext cx="10698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072384"/>
            <a:ext cx="10515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WU TONG YU  →  Funding / Payment / Refund  |  Second: XIAO YU YING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21024"/>
            <a:ext cx="10698480" cy="585216"/>
          </a:xfrm>
          <a:prstGeom prst="rect">
            <a:avLst/>
          </a:prstGeom>
          <a:solidFill>
            <a:srgbClr val="F3F6FA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657600"/>
            <a:ext cx="10515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XIAO YU YING  →  Enquiry / Clinic Letter / Pathway Monitoring  |  Second: DENG JIN WANG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4892040"/>
            <a:ext cx="9875520" cy="685800"/>
          </a:xfrm>
          <a:prstGeom prst="roundRect">
            <a:avLst>
              <a:gd name="adj" fmla="val 8000"/>
            </a:avLst>
          </a:prstGeom>
          <a:solidFill>
            <a:srgbClr val="EAF2F8">
              <a:alpha val="95000"/>
            </a:srgbClr>
          </a:solidFill>
          <a:ln w="1270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52144" y="4946904"/>
            <a:ext cx="97657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238"/>
                </a:solidFill>
              </a:rPr>
              <a:t>Purpose: balanced ownership, clear accountability and continuity if a member is unavailable.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Operational BPMN: End-to-End Model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One integrated process split into five connected areas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132588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57784" y="1380744"/>
            <a:ext cx="17190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Referral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Consultant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856232"/>
            <a:ext cx="4114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88920" y="132588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43784" y="1380744"/>
            <a:ext cx="17190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Appointment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Patient Communication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856232"/>
            <a:ext cx="4114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74920" y="132588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9784" y="1380744"/>
            <a:ext cx="17190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Treatment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Chemotherapy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856232"/>
            <a:ext cx="4114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360920" y="132588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15784" y="1380744"/>
            <a:ext cx="17190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Funding / 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/ Refund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856232"/>
            <a:ext cx="4114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646920" y="132588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701784" y="1380744"/>
            <a:ext cx="1719072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Enquiry / Clinic Letter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3238"/>
                </a:solidFill>
              </a:rPr>
              <a:t>/ Monitoring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794760"/>
            <a:ext cx="1024128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400" dirty="0">
                <a:solidFill>
                  <a:srgbClr val="263238"/>
                </a:solidFill>
              </a:rPr>
              <a:t>Start: Referral received by hospital.</a:t>
            </a:r>
            <a:endParaRPr lang="en-US" sz="1400" dirty="0"/>
          </a:p>
          <a:p>
            <a:r>
              <a:rPr lang="en-US" sz="1400" dirty="0">
                <a:solidFill>
                  <a:srgbClr val="263238"/>
                </a:solidFill>
              </a:rPr>
              <a:t>Core handovers: Accepted Referral → Confirmed Appointment → Treatment Status → Financial Status → Correspondence/Monitoring.</a:t>
            </a:r>
            <a:endParaRPr lang="en-US" sz="1400" dirty="0"/>
          </a:p>
          <a:p>
            <a:r>
              <a:rPr lang="en-US" sz="1400" dirty="0">
                <a:solidFill>
                  <a:srgbClr val="263238"/>
                </a:solidFill>
              </a:rPr>
              <a:t>The editable BPMN file contains participants, activities, gateways, messages and exception paths.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Referral and Appointment Logic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DENG JIN WANG + WU JIA WEI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234440"/>
            <a:ext cx="5257800" cy="411480"/>
          </a:xfrm>
          <a:prstGeom prst="roundRect">
            <a:avLst>
              <a:gd name="adj" fmla="val 13333"/>
            </a:avLst>
          </a:prstGeom>
          <a:solidFill>
            <a:srgbClr val="1F4E79">
              <a:alpha val="95000"/>
            </a:srgbClr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0664" y="1289304"/>
            <a:ext cx="51480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Referral &amp; Consultant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5074920" cy="3566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263238"/>
                </a:solidFill>
              </a:rPr>
              <a:t>Receive and record referral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Check supporting information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Request missing information where required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Send checked referral to Consultant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Consultant decides: accept, reject, request further information or redirect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Record decision, reason and decision maker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257800" cy="411480"/>
          </a:xfrm>
          <a:prstGeom prst="roundRect">
            <a:avLst>
              <a:gd name="adj" fmla="val 13333"/>
            </a:avLst>
          </a:prstGeom>
          <a:solidFill>
            <a:srgbClr val="1F4E79">
              <a:alpha val="95000"/>
            </a:srgbClr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18504" y="1289304"/>
            <a:ext cx="51480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Appointment &amp; Patient Communication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783080"/>
            <a:ext cx="5074920" cy="3566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263238"/>
                </a:solidFill>
              </a:rPr>
              <a:t>Starts only after accepted referral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Receive booking requirements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Search external scheduling service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Confirm appointment in hospital system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Send appointment letter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If within two weeks, also telephone patient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Record contact outcome and exceptions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Treatment and Finance Logic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LIN JIA QIANG + WU TONG YU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234440"/>
            <a:ext cx="5257800" cy="411480"/>
          </a:xfrm>
          <a:prstGeom prst="roundRect">
            <a:avLst>
              <a:gd name="adj" fmla="val 13333"/>
            </a:avLst>
          </a:prstGeom>
          <a:solidFill>
            <a:srgbClr val="1F4E79">
              <a:alpha val="95000"/>
            </a:srgbClr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0664" y="1289304"/>
            <a:ext cx="51480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Treatment &amp; Chemotherapy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5074920" cy="3566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263238"/>
                </a:solidFill>
              </a:rPr>
              <a:t>Patient assessment and treatment discussion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Record consent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Create authorised Treatment Booking Request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Reject/return unauthorised requests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Check treatment/lab/imaging availability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Keep pending if external service unavailable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Continue, delay or modify after clinical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257800" cy="411480"/>
          </a:xfrm>
          <a:prstGeom prst="roundRect">
            <a:avLst>
              <a:gd name="adj" fmla="val 13333"/>
            </a:avLst>
          </a:prstGeom>
          <a:solidFill>
            <a:srgbClr val="1F4E79">
              <a:alpha val="95000"/>
            </a:srgbClr>
          </a:solidFill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318504" y="1289304"/>
            <a:ext cx="51480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Funding / Payment / Refund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783080"/>
            <a:ext cx="5074920" cy="3566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00" dirty="0">
                <a:solidFill>
                  <a:srgbClr val="263238"/>
                </a:solidFill>
              </a:rPr>
              <a:t>Determine funding source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Record insurer/funding approval if required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Send secure payment request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Record payment result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Handle declined, cancelled, incomplete or duplicate payment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Investigate lost confirmation</a:t>
            </a:r>
            <a:endParaRPr lang="en-US" sz="1300" dirty="0"/>
          </a:p>
          <a:p>
            <a:r>
              <a:rPr lang="en-US" sz="1300" dirty="0">
                <a:solidFill>
                  <a:srgbClr val="263238"/>
                </a:solidFill>
              </a:rPr>
              <a:t>Process authorised refunds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Enquiry, Clinic Letter and Monitoring Logic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XIAO YU YING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234440"/>
            <a:ext cx="10424160" cy="4114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263238"/>
                </a:solidFill>
              </a:rPr>
              <a:t>Every enquiry is recorded, classified, prioritised and routed.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Administrative enquiries may be handled by call handlers within authorised information.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Financial enquiries are referred to Finance when required.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Clinical enquiries go to qualified clinical staff; call handlers must not give clinical advice.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Consultant prepares and approves Clinic Letter before distribution.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Delayed letters enter pathway monitoring: weekly reminders, one-month escalation, three-month escalation.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System Boundary and External Interactions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External organisations/services are outside the hospital pool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solidFill>
            <a:srgbClr val="1F4E79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271016"/>
            <a:ext cx="10515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External services / organisations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19656"/>
            <a:ext cx="10515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Referring Organisation: sends referral and supporting information; receives missing-information request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698480" cy="548640"/>
          </a:xfrm>
          <a:prstGeom prst="rect">
            <a:avLst/>
          </a:prstGeom>
          <a:solidFill>
            <a:srgbClr val="F3F6FA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368296"/>
            <a:ext cx="10515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External Scheduling Service: provides appointment availability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916936"/>
            <a:ext cx="10515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External Correspondence Service: sends appointment letters and Clinic Letters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solidFill>
            <a:srgbClr val="F3F6FA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465576"/>
            <a:ext cx="10515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External Treatment/Lab/Imaging Services: provides treatment resource availability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10698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014216"/>
            <a:ext cx="10515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External Payment Service Provider: processes payment/refund requests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5074920"/>
            <a:ext cx="10058400" cy="658368"/>
          </a:xfrm>
          <a:prstGeom prst="roundRect">
            <a:avLst>
              <a:gd name="adj" fmla="val 8333"/>
            </a:avLst>
          </a:prstGeom>
          <a:solidFill>
            <a:srgbClr val="EAF2F8">
              <a:alpha val="95000"/>
            </a:srgbClr>
          </a:solidFill>
          <a:ln w="12700">
            <a:solidFill>
              <a:srgbClr val="2F75B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06424" y="5129784"/>
            <a:ext cx="99486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The hospital system records requests, decisions, outcomes and audit evidence; external services return service responses.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Acceptance Test Plan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How acceptance criteria are structured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188720"/>
            <a:ext cx="576072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263238"/>
                </a:solidFill>
              </a:rPr>
              <a:t>Each criterion has a unique ID, e.g. AC-06.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Each criterion links to a requirement or business rule.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Each test includes scenario, preconditions, test data, actions, expected result and pass/fail condition.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Coverage includes normal workflow, alternatives, exceptions and non-functional expectations.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417320"/>
            <a:ext cx="4389120" cy="2377440"/>
          </a:xfrm>
          <a:prstGeom prst="roundRect">
            <a:avLst>
              <a:gd name="adj" fmla="val 230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54823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75704" y="1472184"/>
            <a:ext cx="4279392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Coverage</a:t>
            </a:r>
          </a:p>
          <a:p>
            <a:r>
              <a:t>20 acceptance criteria across all five owner areas, including normal, alternative, exception and non-functional requirements.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Selected Acceptance Criteria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Examples from the submitted plan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solidFill>
            <a:srgbClr val="1F4E79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271016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AC-03: Consultant decision routes correctly and records reason + decision maker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0698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911096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AC-06: If appointment is within two weeks, telephone contact is required in addition to letter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10698480" cy="640080"/>
          </a:xfrm>
          <a:prstGeom prst="rect">
            <a:avLst/>
          </a:prstGeom>
          <a:solidFill>
            <a:srgbClr val="F3F6FA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551176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AC-10: If external treatment service is unavailable, booking remains pending and duplicate appointment is not created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10698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191256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AC-14: If payment confirmation is lost, transaction is investigated and patient is not automatically charged again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698480" cy="640080"/>
          </a:xfrm>
          <a:prstGeom prst="rect">
            <a:avLst/>
          </a:prstGeom>
          <a:solidFill>
            <a:srgbClr val="F3F6FA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831336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AC-18: Delayed Clinic Letter receives reminders and one-month / three-month escalation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434840"/>
            <a:ext cx="10698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471416"/>
            <a:ext cx="10515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AC-19 / AC-20: Role-based access and audit trail must 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Justification of Model Decisions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Why the model is designed this way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574766"/>
          </a:xfrm>
          <a:prstGeom prst="rect">
            <a:avLst/>
          </a:prstGeom>
          <a:solidFill>
            <a:srgbClr val="1F4E79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225296"/>
            <a:ext cx="10515600" cy="5016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justification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63486"/>
            <a:ext cx="1069848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800062"/>
            <a:ext cx="10515600" cy="5016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Five areas: matches the patient pathway and provides balanced team ownership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8251"/>
            <a:ext cx="10698480" cy="574766"/>
          </a:xfrm>
          <a:prstGeom prst="rect">
            <a:avLst/>
          </a:prstGeom>
          <a:solidFill>
            <a:srgbClr val="F3F6FA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374827"/>
            <a:ext cx="10515600" cy="5016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Referral separated from appointment: booking only starts after Consultant acceptance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13017"/>
            <a:ext cx="1069848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2949593"/>
            <a:ext cx="10515600" cy="5016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Role boundaries: clinical, administrative and financial decisions are separated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87783"/>
            <a:ext cx="10698480" cy="574766"/>
          </a:xfrm>
          <a:prstGeom prst="rect">
            <a:avLst/>
          </a:prstGeom>
          <a:solidFill>
            <a:srgbClr val="F3F6FA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524359"/>
            <a:ext cx="10515600" cy="5016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External services: scheduling, correspondence, treatment resources and payment provider sit outside hospital boundary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62549"/>
            <a:ext cx="1069848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099125"/>
            <a:ext cx="10515600" cy="5016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Exception gateways: missing info, no slot, payment failure and delayed letters require different outcomes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637314"/>
            <a:ext cx="10698480" cy="574766"/>
          </a:xfrm>
          <a:prstGeom prst="rect">
            <a:avLst/>
          </a:prstGeom>
          <a:solidFill>
            <a:srgbClr val="F3F6FA"/>
          </a:solidFill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" y="4673890"/>
            <a:ext cx="10515600" cy="50161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Assumptions recorded: urgency rules, contact attempts and service retry rules need clarification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</a:rPr>
              <a:t>Assumptions and Clarifications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Open questions to confirm with tutor/client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13385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280160"/>
            <a:ext cx="1005840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500" dirty="0">
                <a:solidFill>
                  <a:srgbClr val="263238"/>
                </a:solidFill>
              </a:rPr>
              <a:t>Exact criteria for urgent referrals are not defined.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Exact criteria for urgent clinical enquiries are not defined.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Number of telephone contact attempts before escalation is not specified.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Retry/timeout rules for unavailable external services are not specified.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Actions after cancellation, decline or failure to attend require clarification.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4937760"/>
            <a:ext cx="9326880" cy="685800"/>
          </a:xfrm>
          <a:prstGeom prst="roundRect">
            <a:avLst>
              <a:gd name="adj" fmla="val 8000"/>
            </a:avLst>
          </a:prstGeom>
          <a:solidFill>
            <a:srgbClr val="F3F6FA">
              <a:alpha val="95000"/>
            </a:srgbClr>
          </a:solidFill>
          <a:ln w="12700">
            <a:solidFill>
              <a:srgbClr val="C55A1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35024" y="4992624"/>
            <a:ext cx="92171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63238"/>
                </a:solidFill>
              </a:rPr>
              <a:t>These assumptions are documented and should be updated after tutor feedback.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1124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UFCEP4-0-3 Initial Release | 28 September 2026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UFCEP4-0-3 Group</dc:creator>
  <cp:lastModifiedBy>UFCEP4-0-3 Group</cp:lastModifiedBy>
  <cp:revision>1</cp:revision>
  <dcterms:created xsi:type="dcterms:W3CDTF">2026-09-17T01:48:37Z</dcterms:created>
  <dcterms:modified xsi:type="dcterms:W3CDTF">2026-09-17T01:48:37Z</dcterms:modified>
</cp:coreProperties>
</file>